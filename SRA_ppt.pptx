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8" r:id="rId1"/>
  </p:sldMasterIdLst>
  <p:notesMasterIdLst>
    <p:notesMasterId r:id="rId13"/>
  </p:notesMasterIdLst>
  <p:sldIdLst>
    <p:sldId id="256" r:id="rId2"/>
    <p:sldId id="257" r:id="rId3"/>
    <p:sldId id="258" r:id="rId4"/>
    <p:sldId id="277" r:id="rId5"/>
    <p:sldId id="259" r:id="rId6"/>
    <p:sldId id="261" r:id="rId7"/>
    <p:sldId id="278" r:id="rId8"/>
    <p:sldId id="279" r:id="rId9"/>
    <p:sldId id="280" r:id="rId10"/>
    <p:sldId id="265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B24A0E-2801-4D9C-8929-CBCE2B3D3023}">
  <a:tblStyle styleId="{44B24A0E-2801-4D9C-8929-CBCE2B3D30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0413" autoAdjust="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5606CD5-7DB9-6B76-A2F9-0A6B85C2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DBC44DA-844D-187D-B3C8-E5B201399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2228C28-914C-8C31-E726-D209D7732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687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373C6FEE-E2C5-B56A-6F3A-865F4121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>
            <a:extLst>
              <a:ext uri="{FF2B5EF4-FFF2-40B4-BE49-F238E27FC236}">
                <a16:creationId xmlns:a16="http://schemas.microsoft.com/office/drawing/2014/main" id="{3ED87A77-13B0-7627-DA16-606196D902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0ED49E57-BFE8-A4A4-8676-0D6E92DDB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2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911A8923-0945-78BE-1575-79F629CC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>
            <a:extLst>
              <a:ext uri="{FF2B5EF4-FFF2-40B4-BE49-F238E27FC236}">
                <a16:creationId xmlns:a16="http://schemas.microsoft.com/office/drawing/2014/main" id="{8DB54D61-67AF-4BB4-874F-3BEEB50AC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4048AAFE-72FF-5F88-9960-993D7E416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132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645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>
          <a:extLst>
            <a:ext uri="{FF2B5EF4-FFF2-40B4-BE49-F238E27FC236}">
              <a16:creationId xmlns:a16="http://schemas.microsoft.com/office/drawing/2014/main" id="{3BDC9916-FE07-CFE6-CEE2-767824086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>
            <a:extLst>
              <a:ext uri="{FF2B5EF4-FFF2-40B4-BE49-F238E27FC236}">
                <a16:creationId xmlns:a16="http://schemas.microsoft.com/office/drawing/2014/main" id="{0BD6FA4F-F992-8A4E-0778-62BEAA0B6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:notes">
            <a:extLst>
              <a:ext uri="{FF2B5EF4-FFF2-40B4-BE49-F238E27FC236}">
                <a16:creationId xmlns:a16="http://schemas.microsoft.com/office/drawing/2014/main" id="{4028CDB5-1ACF-4EFF-FFCD-405D4AAB7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38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7C27-BC8F-96D3-5769-DE48B49C3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798F9-70EA-D0FC-BB48-380914A0B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5FF6-13A4-EB3C-0338-7B8C5E005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1218C-6DCB-571E-8AD0-72D9159F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F3F09-68C9-32BB-721C-5D4E5287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194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5944-E440-8F1A-AB34-7ADC767C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DCB91-48A8-66A1-0520-9DF2E7704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89FE-4AA3-73DB-14D9-99A7AABD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97A1-9544-EF1F-CF47-04C18ECE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9138B-EAF8-DDB7-109B-C6DE3C28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4DB1-05E7-D87A-8E5A-45A9A52C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9D62-ED3E-EB21-E9AD-B415839B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5ED12-C3AB-FCA7-87B4-422A6798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46B0E-9F85-9336-012B-D62A680F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2B283-5E8A-2CA2-AD18-C09C159D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F146-820F-CB57-7F8E-E347C18F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7AAD3-287B-D404-6E26-83B3AF36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54EFB-78E4-AD9B-7277-D5F09A220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FC8D2-8641-D0C8-3FFC-A907EFD3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596A-4365-516C-D54D-3D5F7A0A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1E71B-8A78-8165-847E-A675B9BA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5C7E-4628-82B1-13AF-5642AC13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84175-A3C6-E5AD-5896-804B461C8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92DE2-91B1-CE29-D2BD-8000F4393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0F73B-AB46-A8A9-0616-66AB8ED12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7B7DA-C8F9-B446-4DD2-29761660D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10517-2707-1BCD-60A1-F16497E2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7F908C-37B9-CD22-8FF3-FD830CA5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F88A3-FBFC-A416-2BCA-5334C258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8B58-4DF6-7655-E814-86F597E9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E0003-A163-2A88-F148-1DEFD067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157B6-C894-42C9-95B1-4DCB8A75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ED7CE-44C0-BBA6-997F-67752B58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463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B34F9-4480-F417-A40E-E52103CD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871F5-1F2F-036D-2CE7-3ABDBA65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834FF-4518-4A3C-2CBD-99DA4269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6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425B-51E5-36B9-78EB-61C7EACD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7EA9-0031-61B0-2DE4-21E6BA37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467DA-D0F8-B102-D1E6-67744F4D6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B72FE-D0DE-992B-A939-FC4D926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944ED-75DB-42A9-47C2-63FC6AB79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60DC9-36F1-495B-FCD2-11E0075C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DE54-74C2-B6F2-7002-07587836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57ED6B-6103-B34F-5D08-8B3BD4122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AC03B-FF6F-22DF-EC38-FB28CEB26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A3638-05EC-5336-EAEF-5879BCDC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06AB4-C51A-B37A-33B1-90FE131F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9F5C2-6959-B08B-0954-0D749F61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249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ABA3-8145-8BE2-D3A6-D5B961FE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F4C29-6C0F-21C6-D845-013E5D47E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47966-F45C-3153-5306-2705EF5F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A0403-1E39-E8B5-2547-049BB8DC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8AE15-0861-4374-8861-82AADABA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3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9DB25-D28C-BAF7-F0A0-B1D72B98D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B6193-51E3-A771-293C-24ADBFB33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2B6A1-E037-5A16-EB5D-D5B583FA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17CC3-FDA6-F0C7-0871-57758A04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C6B2-AF68-7613-AF6D-FAEBB826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9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92166-2C53-F0D6-39EC-08EFDFBD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21ED7-43A2-8C33-3683-D70EBB19C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15A7D-89FC-33DB-5221-5D90D1C3D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72040-A59A-9D7C-12A6-73EBEAF2F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78B1-3975-5C51-9507-752D39DB3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8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1F2061-8039-BC3D-755E-EAC9AA255C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0175"/>
            <a:ext cx="12192000" cy="7048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Vocational Training Presentation 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Resume Analyzer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B7896-41CF-DD1B-C194-C1B2CDC0CAA6}"/>
              </a:ext>
            </a:extLst>
          </p:cNvPr>
          <p:cNvSpPr txBox="1"/>
          <p:nvPr/>
        </p:nvSpPr>
        <p:spPr>
          <a:xfrm>
            <a:off x="2820416" y="853776"/>
            <a:ext cx="6551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1006D-3D8C-9900-9B73-336C432F9F0A}"/>
              </a:ext>
            </a:extLst>
          </p:cNvPr>
          <p:cNvSpPr txBox="1"/>
          <p:nvPr/>
        </p:nvSpPr>
        <p:spPr>
          <a:xfrm>
            <a:off x="1969477" y="3384578"/>
            <a:ext cx="825303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 Shankaracharya Technical Campus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Institute Affiliated to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Chhattisgarh Swami Vivekanand Technical University, Bhilai (CG)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EF8A15-7424-B26C-1AFB-A32909BE1605}"/>
              </a:ext>
            </a:extLst>
          </p:cNvPr>
          <p:cNvSpPr txBox="1"/>
          <p:nvPr/>
        </p:nvSpPr>
        <p:spPr>
          <a:xfrm>
            <a:off x="3768276" y="5681043"/>
            <a:ext cx="465544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dirty="0"/>
              <a:t>:</a:t>
            </a:r>
          </a:p>
          <a:p>
            <a:pPr algn="ctr">
              <a:defRPr/>
            </a:pPr>
            <a:r>
              <a:rPr lang="en-US" sz="2400" b="1" kern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Hrishi Shrivastava, 301042223095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itchFamily="18" charset="0"/>
              </a:rPr>
              <a:t>CD727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AD8869-5F4D-A8D8-B0F4-6E299C561F4A}"/>
              </a:ext>
            </a:extLst>
          </p:cNvPr>
          <p:cNvSpPr txBox="1"/>
          <p:nvPr/>
        </p:nvSpPr>
        <p:spPr>
          <a:xfrm>
            <a:off x="2864731" y="4578977"/>
            <a:ext cx="646252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partial fulfillment of requirement for the award of the degree of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Bachelor of Technology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kumimoji="0" lang="en-IN" sz="2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95E5F3-F164-7AD7-D0C5-01F539E84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264" y="1577192"/>
            <a:ext cx="1801456" cy="17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3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581025" y="5810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1502560"/>
            <a:ext cx="10648950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rapid expansion of digital content has made the manual verification of textual originality highly inefficient and increasingly prone to human error.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project introduces an automated Plagiarism Detector Tool designed to instantly scan, analyze, and compare large volumes of text for duplicated content.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core architecture relies on advanced Natural Language Processing (NLP) techniques, utilizing Python, NLTK, and scikit-learn to extract and evaluate semantic similarities.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primary objective is to deliver a fast, accurate, and scalable solution that safeguards academic integrity and intellectual property for educators and digital creators.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81025" y="5810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sp>
        <p:nvSpPr>
          <p:cNvPr id="112" name="Google Shape;112;p15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B713A-1573-9329-2B11-18F29B043568}"/>
              </a:ext>
            </a:extLst>
          </p:cNvPr>
          <p:cNvSpPr txBox="1"/>
          <p:nvPr/>
        </p:nvSpPr>
        <p:spPr>
          <a:xfrm>
            <a:off x="581025" y="1346745"/>
            <a:ext cx="10488168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The Challenge:</a:t>
            </a:r>
            <a:r>
              <a:rPr lang="en-US" sz="2400" dirty="0"/>
              <a:t> Manual resume screening is slow, biased, and inconsistent, overwhelming recruiters with massive pools of applicants.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/>
              <a:t>The Solution:</a:t>
            </a:r>
            <a:r>
              <a:rPr lang="en-US" sz="2400" dirty="0"/>
              <a:t> An intelligent, AI-powered system designed to automate parsing, skill evaluation, and candidate matching.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Technology Stack:</a:t>
            </a:r>
            <a:r>
              <a:rPr lang="en-US" sz="2400" dirty="0"/>
              <a:t> Leverages Natural Language Processing (NLP), Machine Learning algorithms, and robust PDF extraction tools.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The Goal:</a:t>
            </a:r>
            <a:r>
              <a:rPr lang="en-US" sz="2400" dirty="0"/>
              <a:t> Streamline the hiring pipeline, reduce human fatigue, and provide actionable feedback to job seekers for ATS optimization.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DA0A02D-7AFB-2C7E-205E-109D6C13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>
            <a:extLst>
              <a:ext uri="{FF2B5EF4-FFF2-40B4-BE49-F238E27FC236}">
                <a16:creationId xmlns:a16="http://schemas.microsoft.com/office/drawing/2014/main" id="{C37E90D2-0408-D6EC-8836-46EA690031D2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Three-Tier Architecture</a:t>
            </a:r>
            <a:endParaRPr lang="en-US" sz="3200" dirty="0"/>
          </a:p>
        </p:txBody>
      </p:sp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09F7EF02-1913-11D0-272D-21FF2006F2DC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D4DAB-21FD-073C-5A9D-C3EE0570830A}"/>
              </a:ext>
            </a:extLst>
          </p:cNvPr>
          <p:cNvSpPr txBox="1"/>
          <p:nvPr/>
        </p:nvSpPr>
        <p:spPr>
          <a:xfrm>
            <a:off x="581026" y="1162723"/>
            <a:ext cx="41156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Tier 1: Presentation Layer (User Interface):</a:t>
            </a:r>
            <a:r>
              <a:rPr lang="en-US" sz="2000" dirty="0"/>
              <a:t> A highly interactive, responsive web dashboard built with </a:t>
            </a:r>
            <a:r>
              <a:rPr lang="en-US" sz="2000" dirty="0" err="1"/>
              <a:t>Streamlit</a:t>
            </a:r>
            <a:r>
              <a:rPr lang="en-US" sz="2000" dirty="0"/>
              <a:t>, to easily upload PDF resumes and instantly match percentages and skill gap analytics.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Tier 2: Application Layer (Business Logic):</a:t>
            </a:r>
            <a:r>
              <a:rPr lang="en-US" sz="2000" dirty="0"/>
              <a:t> The core intelligence engine, Python backend, </a:t>
            </a:r>
            <a:r>
              <a:rPr lang="en-US" sz="2000" dirty="0" err="1"/>
              <a:t>PDFMiner</a:t>
            </a:r>
            <a:r>
              <a:rPr lang="en-US" sz="2000" dirty="0"/>
              <a:t> for text extraction and scikit-learn (TF-IDF and Cosine Similarity) to execute natural language processing and scoring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Tier 3: Data Layer (Storage):</a:t>
            </a:r>
            <a:r>
              <a:rPr lang="en-US" sz="2000" dirty="0"/>
              <a:t> A scalable </a:t>
            </a:r>
            <a:r>
              <a:rPr lang="en-US" sz="2000" dirty="0" err="1"/>
              <a:t>TiDB</a:t>
            </a:r>
            <a:r>
              <a:rPr lang="en-US" sz="2000" dirty="0"/>
              <a:t> cloud database that securely stores parsed candidate records, contact info, and evaluation scores.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2B270-0D61-20B5-5E29-6461F8779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873" y="1537108"/>
            <a:ext cx="6151418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6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dirty="0"/>
          </a:p>
        </p:txBody>
      </p:sp>
      <p:sp>
        <p:nvSpPr>
          <p:cNvPr id="129" name="Google Shape;129;p16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E91FC-9690-67FE-4D6D-7CF6925F53B0}"/>
              </a:ext>
            </a:extLst>
          </p:cNvPr>
          <p:cNvSpPr txBox="1"/>
          <p:nvPr/>
        </p:nvSpPr>
        <p:spPr>
          <a:xfrm>
            <a:off x="534352" y="1264067"/>
            <a:ext cx="11123295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Document Ingestion:</a:t>
            </a:r>
            <a:r>
              <a:rPr lang="en-US" sz="2000" dirty="0"/>
              <a:t> Seamlessly accept and process unstructured PDF resume uploads.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 Extraction:</a:t>
            </a:r>
            <a:r>
              <a:rPr lang="en-US" sz="2000" dirty="0"/>
              <a:t> Accurately parse and extract raw text, contact information, and core competencies.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Algorithmic Evaluation:</a:t>
            </a:r>
            <a:r>
              <a:rPr lang="en-US" sz="2000" dirty="0"/>
              <a:t> Calculate an objective compatibility score between the applicant's resume and a provided job description.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Skill Gap Analysis:</a:t>
            </a:r>
            <a:r>
              <a:rPr lang="en-US" sz="2000" dirty="0"/>
              <a:t> Identify and display specific missing keywords or required technical skills.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Secure Storage:</a:t>
            </a:r>
            <a:r>
              <a:rPr lang="en-US" sz="2000" dirty="0"/>
              <a:t> Safely export and manage candidate records within a cloud database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81025" y="581025"/>
            <a:ext cx="11581447" cy="49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/>
          </a:p>
        </p:txBody>
      </p:sp>
      <p:sp>
        <p:nvSpPr>
          <p:cNvPr id="156" name="Google Shape;156;p18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B0394-CDCC-38E8-CBF3-B92CBC1E3CDF}"/>
              </a:ext>
            </a:extLst>
          </p:cNvPr>
          <p:cNvSpPr txBox="1"/>
          <p:nvPr/>
        </p:nvSpPr>
        <p:spPr>
          <a:xfrm>
            <a:off x="581025" y="1437979"/>
            <a:ext cx="62870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Upload: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submits PDF(s) — study notes, PYQs, or textbook chapters.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Text Vectorization:</a:t>
            </a:r>
            <a:r>
              <a:rPr lang="en-US" dirty="0"/>
              <a:t> Convert unstructured words into mathematical vectors using the TF-IDF algorithm.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Algorithmic Scoring:</a:t>
            </a:r>
            <a:r>
              <a:rPr lang="en-US" dirty="0"/>
              <a:t> Calculate exact match percentages between resumes and job descriptions using Cosine Similarity.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Skill Gap Analysis:</a:t>
            </a:r>
            <a:r>
              <a:rPr lang="en-US" dirty="0"/>
              <a:t> Identify missing technical skills and keywords through set subtraction.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Dashboard &amp; Storage:</a:t>
            </a:r>
            <a:r>
              <a:rPr lang="en-US" dirty="0"/>
              <a:t> Display results on a </a:t>
            </a:r>
            <a:r>
              <a:rPr lang="en-US" dirty="0" err="1"/>
              <a:t>Streamlit</a:t>
            </a:r>
            <a:r>
              <a:rPr lang="en-US" dirty="0"/>
              <a:t> web interface and securely log candidate data in </a:t>
            </a:r>
            <a:r>
              <a:rPr lang="en-US" dirty="0" err="1"/>
              <a:t>TiDB</a:t>
            </a:r>
            <a:r>
              <a:rPr lang="en-US" dirty="0"/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8AE42-0A02-5C43-2B74-22E0BDEE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55" y="1437979"/>
            <a:ext cx="4594627" cy="4874241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CF6A15E-8469-27EF-FA4E-BC7905A27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04342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Parse raw text and contact details from PDF resumes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PDFMiner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regex.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12397A6-818B-675E-3127-D9ABC5CC4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8B20EE48-B854-19C5-312F-A33B0BDE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D671DA6D-A0EB-B631-AACC-0ACB51A4F4AF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C3E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</a:t>
            </a:r>
            <a:endParaRPr dirty="0"/>
          </a:p>
        </p:txBody>
      </p:sp>
      <p:sp>
        <p:nvSpPr>
          <p:cNvPr id="156" name="Google Shape;156;p18">
            <a:extLst>
              <a:ext uri="{FF2B5EF4-FFF2-40B4-BE49-F238E27FC236}">
                <a16:creationId xmlns:a16="http://schemas.microsoft.com/office/drawing/2014/main" id="{03D7517C-F7CC-09EE-95D2-43280F801E31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F0DDB6-FC3A-0953-A653-3DB92A62837F}"/>
              </a:ext>
            </a:extLst>
          </p:cNvPr>
          <p:cNvSpPr txBox="1"/>
          <p:nvPr/>
        </p:nvSpPr>
        <p:spPr>
          <a:xfrm>
            <a:off x="581025" y="1264066"/>
            <a:ext cx="5514975" cy="2125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Cloud Infrastructure:</a:t>
            </a:r>
            <a:r>
              <a:rPr lang="en-US" dirty="0"/>
              <a:t> Powered by </a:t>
            </a:r>
            <a:r>
              <a:rPr lang="en-US" dirty="0" err="1"/>
              <a:t>TiDB</a:t>
            </a:r>
            <a:r>
              <a:rPr lang="en-US" dirty="0"/>
              <a:t> Cloud for scalable, secure, and distributed SQL data storage.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Relational Schemas:</a:t>
            </a:r>
            <a:r>
              <a:rPr lang="en-US" dirty="0"/>
              <a:t> Structured to efficiently log applicant contact details, calculated match percentages, and extracted skill analytics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3837A-6A7B-451D-6A0C-8FDFE9A91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391" y="1459266"/>
            <a:ext cx="6312390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4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B53C52FB-1C0A-8AC3-7AB1-88B05D8F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>
            <a:extLst>
              <a:ext uri="{FF2B5EF4-FFF2-40B4-BE49-F238E27FC236}">
                <a16:creationId xmlns:a16="http://schemas.microsoft.com/office/drawing/2014/main" id="{6E6FBF26-6FD0-CC9C-B3EB-7978344A6BB2}"/>
              </a:ext>
            </a:extLst>
          </p:cNvPr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en-US" sz="315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OUTPUT AND RESULTS</a:t>
            </a:r>
            <a:endParaRPr lang="en-US" sz="3200" dirty="0">
              <a:solidFill>
                <a:srgbClr val="2C3E50"/>
              </a:solidFill>
            </a:endParaRPr>
          </a:p>
        </p:txBody>
      </p:sp>
      <p:sp>
        <p:nvSpPr>
          <p:cNvPr id="156" name="Google Shape;156;p18">
            <a:extLst>
              <a:ext uri="{FF2B5EF4-FFF2-40B4-BE49-F238E27FC236}">
                <a16:creationId xmlns:a16="http://schemas.microsoft.com/office/drawing/2014/main" id="{2FEED622-2F75-BE73-010A-2487BEBFFCAC}"/>
              </a:ext>
            </a:extLst>
          </p:cNvPr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FCF7E-764A-6D1E-05EE-BB55DEF2AC31}"/>
              </a:ext>
            </a:extLst>
          </p:cNvPr>
          <p:cNvSpPr txBox="1"/>
          <p:nvPr/>
        </p:nvSpPr>
        <p:spPr>
          <a:xfrm>
            <a:off x="642937" y="1382697"/>
            <a:ext cx="10906125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Instant Compatibility Scoring:</a:t>
            </a:r>
            <a:r>
              <a:rPr lang="en-US" sz="2000" dirty="0"/>
              <a:t> Generates precise, mathematical match percentages comparing candidate profiles directly against job requirements.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Automated Skill Gap Analysis:</a:t>
            </a:r>
            <a:r>
              <a:rPr lang="en-US" sz="2000" dirty="0"/>
              <a:t> Explicitly identifies and lists critical missing keywords, allowing recruiters to see exactly where a candidate falls short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Structured Data Extraction:</a:t>
            </a:r>
            <a:r>
              <a:rPr lang="en-US" sz="2000" dirty="0"/>
              <a:t> Successfully isolates and standardizes contact information (emails, phone numbers) from highly unstructured PDF formats.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Streamlined Workflow:</a:t>
            </a:r>
            <a:r>
              <a:rPr lang="en-US" sz="2000" dirty="0"/>
              <a:t> Reduces manual screening time from minutes per resume to seconds, presenting all actionable data on a single interactive dashboard.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89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B0248D-F8E2-DCE2-10A6-D7BACD9C141F}"/>
              </a:ext>
            </a:extLst>
          </p:cNvPr>
          <p:cNvCxnSpPr/>
          <p:nvPr/>
        </p:nvCxnSpPr>
        <p:spPr>
          <a:xfrm>
            <a:off x="0" y="3429000"/>
            <a:ext cx="12287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D57979-10FF-A3E9-1D06-F078E4678BF1}"/>
              </a:ext>
            </a:extLst>
          </p:cNvPr>
          <p:cNvSpPr txBox="1"/>
          <p:nvPr/>
        </p:nvSpPr>
        <p:spPr>
          <a:xfrm>
            <a:off x="7226873" y="1210845"/>
            <a:ext cx="4467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Portal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173D8-D051-3B99-6C18-2F0D23E2F4A9}"/>
              </a:ext>
            </a:extLst>
          </p:cNvPr>
          <p:cNvSpPr txBox="1"/>
          <p:nvPr/>
        </p:nvSpPr>
        <p:spPr>
          <a:xfrm>
            <a:off x="581025" y="4582161"/>
            <a:ext cx="4467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E1333-9D87-966B-5A32-E509F7C9D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8839"/>
            <a:ext cx="6260175" cy="2737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350E1F-BF99-81AF-AE18-BC7347986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018" y="3657599"/>
            <a:ext cx="6954982" cy="254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581025" y="581025"/>
            <a:ext cx="11581447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CONCLUSION &amp; FUTURE SCOPE </a:t>
            </a:r>
            <a:endParaRPr dirty="0"/>
          </a:p>
        </p:txBody>
      </p:sp>
      <p:sp>
        <p:nvSpPr>
          <p:cNvPr id="258" name="Google Shape;258;p22"/>
          <p:cNvSpPr/>
          <p:nvPr/>
        </p:nvSpPr>
        <p:spPr>
          <a:xfrm>
            <a:off x="581025" y="1203870"/>
            <a:ext cx="11029950" cy="1905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5B6F6-1D3F-A456-5FC0-D757DB8FEE39}"/>
              </a:ext>
            </a:extLst>
          </p:cNvPr>
          <p:cNvSpPr txBox="1"/>
          <p:nvPr/>
        </p:nvSpPr>
        <p:spPr>
          <a:xfrm>
            <a:off x="581024" y="1264067"/>
            <a:ext cx="5000625" cy="5675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Process Optimization:</a:t>
            </a:r>
            <a:r>
              <a:rPr lang="en-US" sz="2000" dirty="0"/>
              <a:t> Successfully automated the initial screening phase, drastically reducing recruiter fatigue and manual review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Objective Hiring:</a:t>
            </a:r>
            <a:r>
              <a:rPr lang="en-US" sz="2000" dirty="0"/>
              <a:t> Minimized human bias by relying on mathematical vectorization and data-driven skill matching.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Proven Accuracy:</a:t>
            </a:r>
            <a:r>
              <a:rPr lang="en-US" sz="2000" dirty="0"/>
              <a:t> Demonstrated the practical effectiveness of NLP techniques like TF-IDF and Cosine Similarity in evaluating unstructured text.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EA69D-A480-42B7-738D-7D4C2297F22D}"/>
              </a:ext>
            </a:extLst>
          </p:cNvPr>
          <p:cNvSpPr txBox="1"/>
          <p:nvPr/>
        </p:nvSpPr>
        <p:spPr>
          <a:xfrm>
            <a:off x="6096000" y="1264066"/>
            <a:ext cx="5000625" cy="5213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Advanced AI Models:</a:t>
            </a:r>
            <a:r>
              <a:rPr lang="en-US" sz="2000" dirty="0"/>
              <a:t> Upgrading the scoring engine from TF-IDF to deep learning language models (like BERT or GPT) for deeper semantic understanding of 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Broader File Support:</a:t>
            </a:r>
            <a:r>
              <a:rPr lang="en-US" sz="2000" dirty="0"/>
              <a:t> Integrating Optical Character Recognition (OCR) to parse image-based resumes and expanding support for DOCX and TXT formats.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Platform Integration:</a:t>
            </a:r>
            <a:r>
              <a:rPr lang="en-US" sz="2000" dirty="0"/>
              <a:t> Developing APIs to seamlessly plug the analyzer.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10452242-DCD2-9C42-6005-05A89490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>
            <a:extLst>
              <a:ext uri="{FF2B5EF4-FFF2-40B4-BE49-F238E27FC236}">
                <a16:creationId xmlns:a16="http://schemas.microsoft.com/office/drawing/2014/main" id="{C7641744-3147-458E-D769-1A42CD809A0D}"/>
              </a:ext>
            </a:extLst>
          </p:cNvPr>
          <p:cNvSpPr txBox="1"/>
          <p:nvPr/>
        </p:nvSpPr>
        <p:spPr>
          <a:xfrm>
            <a:off x="1376363" y="2616470"/>
            <a:ext cx="9439274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dirty="0">
                <a:solidFill>
                  <a:srgbClr val="2C3E50"/>
                </a:solidFill>
                <a:latin typeface="Times New Roman"/>
                <a:cs typeface="Times New Roman"/>
                <a:sym typeface="Times New Roman"/>
              </a:rPr>
              <a:t>THANK YOU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350034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872</TotalTime>
  <Words>801</Words>
  <Application>Microsoft Office PowerPoint</Application>
  <PresentationFormat>Widescreen</PresentationFormat>
  <Paragraphs>61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A Vocational Training Presentation on Smart Resume Analyzer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.... ....</dc:creator>
  <cp:lastModifiedBy>Hrishi Shrivastava</cp:lastModifiedBy>
  <cp:revision>31</cp:revision>
  <dcterms:modified xsi:type="dcterms:W3CDTF">2026-07-08T08:25:22Z</dcterms:modified>
</cp:coreProperties>
</file>